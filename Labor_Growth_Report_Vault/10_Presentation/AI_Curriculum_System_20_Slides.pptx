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a3548bc98a4ca8" /><Relationship Type="http://schemas.openxmlformats.org/officeDocument/2006/relationships/extended-properties" Target="/docProps/app.xml" Id="R2b44bf17868f4042" /><Relationship Type="http://schemas.openxmlformats.org/officeDocument/2006/relationships/officeDocument" Target="/ppt/presentation.xml" Id="R24e35f0a2c2a46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ca12d82d684b3f"/>
  </p:sldMasterIdLst>
  <p:notesMasterIdLst>
    <p:notesMasterId xmlns:r="http://schemas.openxmlformats.org/officeDocument/2006/relationships" r:id="Rc35d505af476424d"/>
  </p:notesMasterIdLst>
  <p:sldIdLst>
    <p:sldId xmlns:r="http://schemas.openxmlformats.org/officeDocument/2006/relationships" id="256" r:id="R7dda4293cd274e35"/>
    <p:sldId xmlns:r="http://schemas.openxmlformats.org/officeDocument/2006/relationships" id="257" r:id="R9a1eaa0f97704f91"/>
    <p:sldId xmlns:r="http://schemas.openxmlformats.org/officeDocument/2006/relationships" id="258" r:id="R8289649f54cb4995"/>
    <p:sldId xmlns:r="http://schemas.openxmlformats.org/officeDocument/2006/relationships" id="259" r:id="Rc84f8af56ade4f83"/>
    <p:sldId xmlns:r="http://schemas.openxmlformats.org/officeDocument/2006/relationships" id="260" r:id="Rf927b4bc67394fcf"/>
    <p:sldId xmlns:r="http://schemas.openxmlformats.org/officeDocument/2006/relationships" id="261" r:id="Rcae3b7f9821c4e75"/>
    <p:sldId xmlns:r="http://schemas.openxmlformats.org/officeDocument/2006/relationships" id="262" r:id="R438cfccb345c4e5b"/>
    <p:sldId xmlns:r="http://schemas.openxmlformats.org/officeDocument/2006/relationships" id="263" r:id="Raf09df0ee32048d5"/>
    <p:sldId xmlns:r="http://schemas.openxmlformats.org/officeDocument/2006/relationships" id="264" r:id="R9b0c0272d3e24442"/>
    <p:sldId xmlns:r="http://schemas.openxmlformats.org/officeDocument/2006/relationships" id="265" r:id="R15633f7f80614c46"/>
    <p:sldId xmlns:r="http://schemas.openxmlformats.org/officeDocument/2006/relationships" id="266" r:id="R5298d4098fe04d29"/>
    <p:sldId xmlns:r="http://schemas.openxmlformats.org/officeDocument/2006/relationships" id="267" r:id="Rb058e086cc664f9e"/>
    <p:sldId xmlns:r="http://schemas.openxmlformats.org/officeDocument/2006/relationships" id="268" r:id="R7610432cc4064c99"/>
    <p:sldId xmlns:r="http://schemas.openxmlformats.org/officeDocument/2006/relationships" id="269" r:id="Rf9305982e4b449d7"/>
    <p:sldId xmlns:r="http://schemas.openxmlformats.org/officeDocument/2006/relationships" id="270" r:id="Rd540ca9729004309"/>
    <p:sldId xmlns:r="http://schemas.openxmlformats.org/officeDocument/2006/relationships" id="271" r:id="R0dfaf2b6cc6d4393"/>
    <p:sldId xmlns:r="http://schemas.openxmlformats.org/officeDocument/2006/relationships" id="272" r:id="Rf5e2acd5aea94f19"/>
    <p:sldId xmlns:r="http://schemas.openxmlformats.org/officeDocument/2006/relationships" id="273" r:id="Rdd230f18257247a2"/>
    <p:sldId xmlns:r="http://schemas.openxmlformats.org/officeDocument/2006/relationships" id="274" r:id="R01f6d1b5206b4623"/>
    <p:sldId xmlns:r="http://schemas.openxmlformats.org/officeDocument/2006/relationships" id="275" r:id="R8119c4ef2de34f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68be5b0ecb481b" /><Relationship Type="http://schemas.openxmlformats.org/officeDocument/2006/relationships/slideMaster" Target="/ppt/slideMasters/slideMaster1.xml" Id="R73ca12d82d684b3f" /><Relationship Type="http://schemas.openxmlformats.org/officeDocument/2006/relationships/notesMaster" Target="/ppt/notesMasters/notesMaster1.xml" Id="Rc35d505af476424d" /><Relationship Type="http://schemas.openxmlformats.org/officeDocument/2006/relationships/presProps" Target="/ppt/presProps.xml" Id="R89d1369733b544d6" /><Relationship Type="http://schemas.openxmlformats.org/officeDocument/2006/relationships/tableStyles" Target="/ppt/tableStyles.xml" Id="R775eabf2a68e407b" /><Relationship Type="http://schemas.openxmlformats.org/officeDocument/2006/relationships/slide" Target="/ppt/slides/slide1.xml" Id="R7dda4293cd274e35" /><Relationship Type="http://schemas.openxmlformats.org/officeDocument/2006/relationships/slide" Target="/ppt/slides/slide2.xml" Id="R9a1eaa0f97704f91" /><Relationship Type="http://schemas.openxmlformats.org/officeDocument/2006/relationships/slide" Target="/ppt/slides/slide3.xml" Id="R8289649f54cb4995" /><Relationship Type="http://schemas.openxmlformats.org/officeDocument/2006/relationships/slide" Target="/ppt/slides/slide4.xml" Id="Rc84f8af56ade4f83" /><Relationship Type="http://schemas.openxmlformats.org/officeDocument/2006/relationships/slide" Target="/ppt/slides/slide5.xml" Id="Rf927b4bc67394fcf" /><Relationship Type="http://schemas.openxmlformats.org/officeDocument/2006/relationships/slide" Target="/ppt/slides/slide6.xml" Id="Rcae3b7f9821c4e75" /><Relationship Type="http://schemas.openxmlformats.org/officeDocument/2006/relationships/slide" Target="/ppt/slides/slide7.xml" Id="R438cfccb345c4e5b" /><Relationship Type="http://schemas.openxmlformats.org/officeDocument/2006/relationships/slide" Target="/ppt/slides/slide8.xml" Id="Raf09df0ee32048d5" /><Relationship Type="http://schemas.openxmlformats.org/officeDocument/2006/relationships/slide" Target="/ppt/slides/slide9.xml" Id="R9b0c0272d3e24442" /><Relationship Type="http://schemas.openxmlformats.org/officeDocument/2006/relationships/slide" Target="/ppt/slides/slide10.xml" Id="R15633f7f80614c46" /><Relationship Type="http://schemas.openxmlformats.org/officeDocument/2006/relationships/slide" Target="/ppt/slides/slide11.xml" Id="R5298d4098fe04d29" /><Relationship Type="http://schemas.openxmlformats.org/officeDocument/2006/relationships/slide" Target="/ppt/slides/slide12.xml" Id="Rb058e086cc664f9e" /><Relationship Type="http://schemas.openxmlformats.org/officeDocument/2006/relationships/slide" Target="/ppt/slides/slide13.xml" Id="R7610432cc4064c99" /><Relationship Type="http://schemas.openxmlformats.org/officeDocument/2006/relationships/slide" Target="/ppt/slides/slide14.xml" Id="Rf9305982e4b449d7" /><Relationship Type="http://schemas.openxmlformats.org/officeDocument/2006/relationships/slide" Target="/ppt/slides/slide15.xml" Id="Rd540ca9729004309" /><Relationship Type="http://schemas.openxmlformats.org/officeDocument/2006/relationships/slide" Target="/ppt/slides/slide16.xml" Id="R0dfaf2b6cc6d4393" /><Relationship Type="http://schemas.openxmlformats.org/officeDocument/2006/relationships/slide" Target="/ppt/slides/slide17.xml" Id="Rf5e2acd5aea94f19" /><Relationship Type="http://schemas.openxmlformats.org/officeDocument/2006/relationships/slide" Target="/ppt/slides/slide18.xml" Id="Rdd230f18257247a2" /><Relationship Type="http://schemas.openxmlformats.org/officeDocument/2006/relationships/slide" Target="/ppt/slides/slide19.xml" Id="R01f6d1b5206b4623" /><Relationship Type="http://schemas.openxmlformats.org/officeDocument/2006/relationships/slide" Target="/ppt/slides/slide20.xml" Id="R8119c4ef2de34f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27fb8bc46b41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f00a308380415b" /><Relationship Type="http://schemas.openxmlformats.org/officeDocument/2006/relationships/notesMaster" Target="/ppt/notesMasters/notesMaster1.xml" Id="R8ff6486ef43249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8eae2e555e484d" /><Relationship Type="http://schemas.openxmlformats.org/officeDocument/2006/relationships/notesMaster" Target="/ppt/notesMasters/notesMaster1.xml" Id="R37458d9a095847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6b50d5099245fd" /><Relationship Type="http://schemas.openxmlformats.org/officeDocument/2006/relationships/notesMaster" Target="/ppt/notesMasters/notesMaster1.xml" Id="R2ecd8db9a87b4a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d672c9cf024752" /><Relationship Type="http://schemas.openxmlformats.org/officeDocument/2006/relationships/notesMaster" Target="/ppt/notesMasters/notesMaster1.xml" Id="Ra8031ed217c846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890abff993468a" /><Relationship Type="http://schemas.openxmlformats.org/officeDocument/2006/relationships/notesMaster" Target="/ppt/notesMasters/notesMaster1.xml" Id="R2b8794a079024f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3c44acc5f3486f" /><Relationship Type="http://schemas.openxmlformats.org/officeDocument/2006/relationships/notesMaster" Target="/ppt/notesMasters/notesMaster1.xml" Id="R3bacdc348e8643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0a6b2d974541be" /><Relationship Type="http://schemas.openxmlformats.org/officeDocument/2006/relationships/notesMaster" Target="/ppt/notesMasters/notesMaster1.xml" Id="R5e7b0408c3c045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ea5cd19c6e46d5" /><Relationship Type="http://schemas.openxmlformats.org/officeDocument/2006/relationships/notesMaster" Target="/ppt/notesMasters/notesMaster1.xml" Id="Ra66424044e3743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27dd0bb134402f" /><Relationship Type="http://schemas.openxmlformats.org/officeDocument/2006/relationships/notesMaster" Target="/ppt/notesMasters/notesMaster1.xml" Id="R52a16077bf6040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4efb2042214c12" /><Relationship Type="http://schemas.openxmlformats.org/officeDocument/2006/relationships/notesMaster" Target="/ppt/notesMasters/notesMaster1.xml" Id="Re86cea63aae84b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260da4b6d842fe" /><Relationship Type="http://schemas.openxmlformats.org/officeDocument/2006/relationships/notesMaster" Target="/ppt/notesMasters/notesMaster1.xml" Id="R3ee5b711a55445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a4534db06c4657" /><Relationship Type="http://schemas.openxmlformats.org/officeDocument/2006/relationships/notesMaster" Target="/ppt/notesMasters/notesMaster1.xml" Id="Ree39dc2462b54f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6f2510f9104924" /><Relationship Type="http://schemas.openxmlformats.org/officeDocument/2006/relationships/notesMaster" Target="/ppt/notesMasters/notesMaster1.xml" Id="R747da05e364340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6e05294e8b4411" /><Relationship Type="http://schemas.openxmlformats.org/officeDocument/2006/relationships/notesMaster" Target="/ppt/notesMasters/notesMaster1.xml" Id="Rf77242599c7840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1a50fb2de642aa" /><Relationship Type="http://schemas.openxmlformats.org/officeDocument/2006/relationships/notesMaster" Target="/ppt/notesMasters/notesMaster1.xml" Id="R1ea27eedb06248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61baad056d422e" /><Relationship Type="http://schemas.openxmlformats.org/officeDocument/2006/relationships/notesMaster" Target="/ppt/notesMasters/notesMaster1.xml" Id="R39ed169ac77343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42f5fac1504835" /><Relationship Type="http://schemas.openxmlformats.org/officeDocument/2006/relationships/notesMaster" Target="/ppt/notesMasters/notesMaster1.xml" Id="R9d2347e6650344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7e32ee10814498" /><Relationship Type="http://schemas.openxmlformats.org/officeDocument/2006/relationships/notesMaster" Target="/ppt/notesMasters/notesMaster1.xml" Id="R65d5ebcec4d1456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805ad330d04aa0" /><Relationship Type="http://schemas.openxmlformats.org/officeDocument/2006/relationships/notesMaster" Target="/ppt/notesMasters/notesMaster1.xml" Id="Rc876ba1779df4cf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33ec98870ac4269" /><Relationship Type="http://schemas.openxmlformats.org/officeDocument/2006/relationships/notesMaster" Target="/ppt/notesMasters/notesMaster1.xml" Id="R245df6c0e6cb4a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D:\work\KSU\AI_EN\Labor_Growth_Report_Vault\10_Presentation\01_System_Overview.md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D:\work\KSU\AI_EN\Labor_Growth_Report_Vault\10_Presentation\02_Single_Source_of_Truth.md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D:\work\KSU\AI_EN\Labor_Growth_Report_Vault\10_Presentation\03_Vault_Map.md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D:\work\KSU\AI_EN\Labor_Growth_Report_Vault\10_Presentation\04_Programme_Identity.md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D:\work\KSU\AI_EN\Labor_Growth_Report_Vault\10_Presentation\05_Curriculum_Structure.md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D:\work\KSU\AI_EN\Labor_Growth_Report_Vault\10_Presentation\06_Courses_and_Codes.md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D:\work\KSU\AI_EN\Labor_Growth_Report_Vault\10_Presentation\07_Prerequisites_Graph.md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D:\work\KSU\AI_EN\Labor_Growth_Report_Vault\10_Presentation\08_Study_Plans.md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D:\work\KSU\AI_EN\Labor_Growth_Report_Vault\10_Presentation\09_OBE_Chain.md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D:\work\KSU\AI_EN\Labor_Growth_Report_Vault\10_Presentation\10_Stakeholders_and_Needs.md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D:\work\KSU\AI_EN\Labor_Growth_Report_Vault\10_Presentation\11_GA_and_PLO.md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D:\work\KSU\AI_EN\Labor_Growth_Report_Vault\10_Presentation\12_YLO_and_IRM.md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D:\work\KSU\AI_EN\Labor_Growth_Report_Vault\10_Presentation\13_CLO_and_Mapping.md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D:\work\KSU\AI_EN\Labor_Growth_Report_Vault\10_Presentation\14_Skills_and_Skill_Sets.md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D:\work\KSU\AI_EN\Labor_Growth_Report_Vault\10_Presentation\15_KSA_Codebook.md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D:\work\KSU\AI_EN\Labor_Growth_Report_Vault\10_Presentation\16_Labor_Market_Evidence.md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D:\work\KSU\AI_EN\Labor_Growth_Report_Vault\10_Presentation\17_Careers_and_Pathways.md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D:\work\KSU\AI_EN\Labor_Growth_Report_Vault\10_Presentation\18_Database_Design.md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D:\work\KSU\AI_EN\Labor_Growth_Report_Vault\10_Presentation\19_Build_Order.md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D:\work\KSU\AI_EN\Labor_Growth_Report_Vault\10_Presentation\20_Generation_Prompts.md</a:t>
            </a:r>
          </a:p>
          <a:p xmlns:a="http://schemas.openxmlformats.org/drawingml/2006/main">
            <a:r>
              <a:t>- ภาพประกอบสร้างด้วย OpenAI ImageGen สำหรับสไลด์นี้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65e7cfb2547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8865b26a014315" /><Relationship Type="http://schemas.openxmlformats.org/officeDocument/2006/relationships/slideLayout" Target="/ppt/slideLayouts/slideLayout1.xml" Id="R19998987f4124f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998987f4124f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26887e7974a05" /><Relationship Type="http://schemas.openxmlformats.org/officeDocument/2006/relationships/image" Target="/ppt/media/image.png" Id="R6521e0f649584418" /><Relationship Type="http://schemas.openxmlformats.org/officeDocument/2006/relationships/notesSlide" Target="/ppt/notesSlides/notesSlide1.xml" Id="R52c6a459290541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99e9f1ff44c9f" /><Relationship Type="http://schemas.openxmlformats.org/officeDocument/2006/relationships/image" Target="/ppt/media/image2.png" Id="R45e3754743614e84" /><Relationship Type="http://schemas.openxmlformats.org/officeDocument/2006/relationships/notesSlide" Target="/ppt/notesSlides/notesSlide2.xml" Id="R2ce22cf5e4eb43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4c9c87586413b" /><Relationship Type="http://schemas.openxmlformats.org/officeDocument/2006/relationships/image" Target="/ppt/media/image3.png" Id="R8c3fc60d000a43e8" /><Relationship Type="http://schemas.openxmlformats.org/officeDocument/2006/relationships/notesSlide" Target="/ppt/notesSlides/notesSlide3.xml" Id="R1221303f0ffc4d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331291377443d" /><Relationship Type="http://schemas.openxmlformats.org/officeDocument/2006/relationships/image" Target="/ppt/media/image4.png" Id="R706aeaaeeb834438" /><Relationship Type="http://schemas.openxmlformats.org/officeDocument/2006/relationships/notesSlide" Target="/ppt/notesSlides/notesSlide4.xml" Id="Rb1dc21e3a28d4f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483cbd74c4fcd" /><Relationship Type="http://schemas.openxmlformats.org/officeDocument/2006/relationships/image" Target="/ppt/media/image5.png" Id="R4eb5af2b18bf4f61" /><Relationship Type="http://schemas.openxmlformats.org/officeDocument/2006/relationships/notesSlide" Target="/ppt/notesSlides/notesSlide5.xml" Id="Ree68f2c7880448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09185948d424e" /><Relationship Type="http://schemas.openxmlformats.org/officeDocument/2006/relationships/image" Target="/ppt/media/image6.png" Id="R26cf999e011241dd" /><Relationship Type="http://schemas.openxmlformats.org/officeDocument/2006/relationships/notesSlide" Target="/ppt/notesSlides/notesSlide6.xml" Id="Raa46e08984ec46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771808e7642ec" /><Relationship Type="http://schemas.openxmlformats.org/officeDocument/2006/relationships/image" Target="/ppt/media/image7.png" Id="Rc0aae3713b3c4150" /><Relationship Type="http://schemas.openxmlformats.org/officeDocument/2006/relationships/notesSlide" Target="/ppt/notesSlides/notesSlide7.xml" Id="Rcd256c4dd74f47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8314d0ff74f02" /><Relationship Type="http://schemas.openxmlformats.org/officeDocument/2006/relationships/image" Target="/ppt/media/image8.png" Id="Rd8a5d282ad2f4e6e" /><Relationship Type="http://schemas.openxmlformats.org/officeDocument/2006/relationships/notesSlide" Target="/ppt/notesSlides/notesSlide8.xml" Id="R4f05751fad734c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bb84b0ba947d9" /><Relationship Type="http://schemas.openxmlformats.org/officeDocument/2006/relationships/image" Target="/ppt/media/image9.png" Id="Rd863ad3fc4fa40ba" /><Relationship Type="http://schemas.openxmlformats.org/officeDocument/2006/relationships/notesSlide" Target="/ppt/notesSlides/notesSlide9.xml" Id="Ra99b929823c844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6508a7eae47df" /><Relationship Type="http://schemas.openxmlformats.org/officeDocument/2006/relationships/image" Target="/ppt/media/image10.png" Id="Ra0c522277a344fbf" /><Relationship Type="http://schemas.openxmlformats.org/officeDocument/2006/relationships/notesSlide" Target="/ppt/notesSlides/notesSlide10.xml" Id="R7b1cd58206fc45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ff96174324d7d" /><Relationship Type="http://schemas.openxmlformats.org/officeDocument/2006/relationships/image" Target="/ppt/media/image11.png" Id="Rc833c888a7624c2a" /><Relationship Type="http://schemas.openxmlformats.org/officeDocument/2006/relationships/notesSlide" Target="/ppt/notesSlides/notesSlide11.xml" Id="R107700c6cdf140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4a5f444714b2b" /><Relationship Type="http://schemas.openxmlformats.org/officeDocument/2006/relationships/image" Target="/ppt/media/image12.png" Id="R962ae3c6870c4893" /><Relationship Type="http://schemas.openxmlformats.org/officeDocument/2006/relationships/notesSlide" Target="/ppt/notesSlides/notesSlide12.xml" Id="R04b1361ced4341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0327b12074a1e" /><Relationship Type="http://schemas.openxmlformats.org/officeDocument/2006/relationships/image" Target="/ppt/media/image13.png" Id="Ra90bd61f94d941b2" /><Relationship Type="http://schemas.openxmlformats.org/officeDocument/2006/relationships/notesSlide" Target="/ppt/notesSlides/notesSlide13.xml" Id="R32e4bea8a00443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171aeaca64e75" /><Relationship Type="http://schemas.openxmlformats.org/officeDocument/2006/relationships/image" Target="/ppt/media/image14.png" Id="R1b23bccd5edc4574" /><Relationship Type="http://schemas.openxmlformats.org/officeDocument/2006/relationships/notesSlide" Target="/ppt/notesSlides/notesSlide14.xml" Id="R627a2e6a7c014f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765a47c2d448e" /><Relationship Type="http://schemas.openxmlformats.org/officeDocument/2006/relationships/image" Target="/ppt/media/image15.png" Id="R436a8ffafc9a4f49" /><Relationship Type="http://schemas.openxmlformats.org/officeDocument/2006/relationships/notesSlide" Target="/ppt/notesSlides/notesSlide15.xml" Id="R0b4dfbba197a43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fda4fc5834f94" /><Relationship Type="http://schemas.openxmlformats.org/officeDocument/2006/relationships/image" Target="/ppt/media/image16.png" Id="R4ab8d9d42cb04aa6" /><Relationship Type="http://schemas.openxmlformats.org/officeDocument/2006/relationships/notesSlide" Target="/ppt/notesSlides/notesSlide16.xml" Id="Rb64fff33842c4b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604a2a5f34582" /><Relationship Type="http://schemas.openxmlformats.org/officeDocument/2006/relationships/image" Target="/ppt/media/image17.png" Id="R52b563efca804966" /><Relationship Type="http://schemas.openxmlformats.org/officeDocument/2006/relationships/notesSlide" Target="/ppt/notesSlides/notesSlide17.xml" Id="R7d80918b961940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1fb2fc1f446ca" /><Relationship Type="http://schemas.openxmlformats.org/officeDocument/2006/relationships/image" Target="/ppt/media/image18.png" Id="R32cbe01e83da4fad" /><Relationship Type="http://schemas.openxmlformats.org/officeDocument/2006/relationships/notesSlide" Target="/ppt/notesSlides/notesSlide18.xml" Id="R2a5789598487449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251fb2b674332" /><Relationship Type="http://schemas.openxmlformats.org/officeDocument/2006/relationships/image" Target="/ppt/media/image19.png" Id="Rdb81fb1cbffa4154" /><Relationship Type="http://schemas.openxmlformats.org/officeDocument/2006/relationships/notesSlide" Target="/ppt/notesSlides/notesSlide19.xml" Id="R4edabc28f31f4b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f0c6acf2b4478" /><Relationship Type="http://schemas.openxmlformats.org/officeDocument/2006/relationships/image" Target="/ppt/media/image20.png" Id="R6e1963bcf3374b97" /><Relationship Type="http://schemas.openxmlformats.org/officeDocument/2006/relationships/notesSlide" Target="/ppt/notesSlides/notesSlide20.xml" Id="Rad46964a308a4f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4BD22-67BF-4F12-A022-67987710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03B3B-3549-46FE-B0FE-2B7F4E5F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76FA7-0059-41CF-8378-BCD3B90E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ระบบหนึ่งชุด สร้างได้ทั้งเล่ม เว็บ และฐานข้อมูล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658DC-E3AC-488A-8821-B7D26754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เอกสารคือความจริงชั้นแรก สคริปต์คือกลไก และผลลัพธ์ทุกชนิดถูกสร้างจากข้อมูลชุดเดียวกัน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3D0AE-98A2-43C4-A755-C9ABCE77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87C52-F952-46CA-B4FB-799F7AC0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FF147-A856-4364-BAA2-8EB75E93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1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79888-B90D-42EB-BCBA-E3FA21B1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738A6-9C87-4B6F-8BBB-B4C9C8EA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โฟลเดอร์วอลต์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5F588-A0F1-43E6-B639-B1B7FDD6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E40FE-84E1-42ED-87C5-D410073A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สคริปต์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DC8C1-CD84-40D5-BA52-3E8543E3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47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0CF6A-3D12-4BA9-BA2D-2BC89A27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ตาราง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F836A-FFF3-48E9-A55D-A9B8FF43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51,583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1D446-1076-4255-A5E5-FC411AE0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แถวข้อมูล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D15DA-3E53-48F4-A772-72C578D2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A2668-32D0-4EBD-A551-8CB8986A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Vault .md — แก้เนื้อหาที่นี่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DBBF0-CAFF-49C9-8F6E-21DA1F2B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C2D3B-7818-4056-B2B4-56DB8D72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Node.js — แปลงและตรวจตรรกะ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33AB2-68A8-4022-8E1A-1947D081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58763-6E14-4D9A-8C3C-596A9203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React · PostgreSQL · Excel — ผลลัพธ์พร้อมใช้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1e0f649584418"/>
          <a:srcRect xmlns:a="http://schemas.openxmlformats.org/drawingml/2006/main" l="0" t="16471" r="0" b="16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F5599-B2BC-4036-B28F-55ED0ACB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1877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7ED2A-A784-45FE-B44B-79022099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0CB2F-F442-4E75-BAB5-65BE7D0D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F65D4-B8BF-49C5-9EFE-2D3F4620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BFF"/>
                </a:solidFill>
              </a:defRPr>
            </a:pPr>
            <a:r>
              <a:rPr sz="3000" b="1">
                <a:solidFill>
                  <a:srgbClr val="F7FBFF"/>
                </a:solidFill>
              </a:rPr>
              <a:t>แก้ที่ต้นทางครั้งเดียว และรู้ที่มาของทุกความสัมพันธ์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FAF33-9EBF-4F2F-93D0-542A5A9B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ทิศทางข้อมูลเดินทางเดียว พร้อม provenance ที่แยกข้อเท็จจริง การคำนวณ และข้อเสนอออกจากกัน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A1025-5E13-46D6-BF72-886FB19B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B901B-330D-4789-81D8-632EDB98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5183C-11DE-4AE6-80DB-AC78B0E8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2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AE865-54CB-4050-9198-4A9E541E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204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stated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67B29-361B-4FE6-85A1-0618FD13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204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เอกสารระบุ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171F5-3FD1-4C2B-A2A6-8C71458B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600200"/>
            <a:ext cx="204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derived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9F244-20C3-43D9-801B-4DE1A690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2076450"/>
            <a:ext cx="204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คำนวณได้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A4F42-B48A-4AFA-8E46-F0B174C6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1600200"/>
            <a:ext cx="204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authored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0F9C6-CD4A-4D98-B14F-B98AA821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2076450"/>
            <a:ext cx="204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ข้อเสนอ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D9FA7-141C-4677-8EF1-6CC3B772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CE6B6-4116-44E3-B955-36592989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สร้างอัตโนมัติ — ห้ามแก้ไฟล์ปลายทาง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096AA-DFA0-4D8A-BB69-0D2534BE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CD16F-5384-49ED-BFB7-245A8D84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ซิงก์ด้วยมือ — แก้เอกสารและไฟล์ข้อมูล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485BF-5827-4B4B-9A51-19C47AD3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91FC1-92A9-4ADF-94E8-22FFBA47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ข้อมูลดิบ — ดึงใหม่จากแหล่งภายนอก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3754743614e84"/>
          <a:srcRect xmlns:a="http://schemas.openxmlformats.org/drawingml/2006/main" l="0" t="16471" r="0" b="16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E9C46-0860-4BAB-8F2E-BB3577DC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9893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E41280-7482-4428-98BC-C90CA8F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CD9C8-F640-45C0-B5DA-62C0800B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84001-EA1D-49F6-8F52-1D39C598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วอลต์แบ่งตามบทบาท ไม่ได้แบ่งแค่ตามหัวข้อ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53FA6-D16B-490F-8DA6-94496372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หลักฐาน ข้อมูลตั้งต้น การออกแบบ ร่างวิชาการ ผลตรวจ และพจนานุกรม ถูกแยกเพื่อควบคุมสถานะของเนื้อหา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AAAE1-9718-4DC1-BD13-692C699C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4F12C-D407-4B6C-931B-53FCEC58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E1F21-4848-4889-90D9-B8E1D107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3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14E72-4983-4A5D-B5EC-3D329CEA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01–02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2487D-4DDF-43FB-947D-1016EAD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หลักฐาน + ฐานเดิม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C68FC-46C8-4621-914A-0756B48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03–06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750FA-1E7F-49F2-86C4-6352F317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ออกแบบ + เปรียบเทียบ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2A352-F012-4439-B105-61D7884A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07–09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4B0F1-A122-44D5-A279-507CFDBC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ตลาดงาน + ตรวจสอบ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A897A-9A99-4129-8554-1779AB7B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18283-57C4-4FE2-87DE-674A5445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การนำเสนอ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A2311-59BE-4378-8B34-B5811918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D550D-D806-47F0-91F1-89AFBAB8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ค้นต้นเหตุของตัวเลขได้ทันที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74808-8EBE-432F-824E-BEFFEF0D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BD5EE-6FA7-416F-B3F4-49704613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แยกฉบับประวัติออกจากฉบับปัจจุบัน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CAA24-030A-421A-8400-4C54D711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EF13D-24EC-43D6-8A8C-5C28D194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เอกสารที่สร้างอัตโนมัติมีตำแหน่งชัดเจน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fc60d000a43e8"/>
          <a:srcRect xmlns:a="http://schemas.openxmlformats.org/drawingml/2006/main" l="0" t="16471" r="0" b="16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F860B-1C4C-4E8D-B0C2-FA93D4C0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8837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8A280-0756-45A4-86F3-C418AE08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DA54A-CC58-4FAE-BB04-FD67BB1A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9A61E-C499-44A0-9F4F-2852D7BD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หลักสูตร 125 หน่วยกิต วาง AI บนสามโดเมนจริง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34E3E-A764-4DD7-B419-3AD7A0EF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ทุกคนเรียนแกน AI เดียวกัน ก่อนต่อยอดสู่เกษตรอัจฉริยะ อุตสาหกรรม และนวัตกรรมองค์กร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A1283-C8C2-4BC5-A03F-6FE74086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33C3D-395B-4EFA-BD10-19CCA9E7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EE87F-8683-4E79-861E-20272227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4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9D284-5259-481A-8EB9-3A3610D3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4 ปี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FE7A8-25C6-417E-ACCC-6A223A9B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8 ภาค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EAEDA-73EF-4CAF-A7A9-92227A62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AE92E-0639-42F8-ADED-F27A09DD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รายวิชา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0BBD8-1730-4D01-A733-CD77A01B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B72AA-48B3-4CED-BBF8-AFB5929D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แขนง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7F453-8298-4113-B3BD-CCC3BD88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C4265-A330-46F7-A4D3-B9EC72D9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แผนเรียน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9EE7D-15B7-4CA4-A9A1-10412607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9111B-B561-4FBC-A6E0-3514DAC5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T1 เกษตรอัจฉริยะ — IoT เซนเซอร์ โดรน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37817-E563-4630-9671-06F9978A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F2736-11C0-425B-A566-00E2C109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T2 AI ภาคอุตสาหกรรม — ควบคุม หุ่นยนต์ คุณภาพ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0E925-79F1-421C-8BB8-7D790CC2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96B91-0D02-4734-8A20-1F4FE9C1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T3 นวัตกรรม AI องค์กร — GenAI ผลิตภัณฑ์ ธุรกิจ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aeaaeeb834438"/>
          <a:srcRect xmlns:a="http://schemas.openxmlformats.org/drawingml/2006/main" l="0" t="16471" r="0" b="16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4A69A4-8128-42C1-BC5E-CCFBDAD5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88226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DB9268-4935-47DF-9809-6020E04F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9AF06-02AD-44C2-8BB4-8CDC0945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7A8BB-E886-47D6-A482-30968446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โครงสร้าง 125 หน่วยกิต ให้น้ำหนักกับวิชาเฉพาะ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96E71-DF27-4466-9056-880CC07E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วิชาเฉพาะคิดเป็น 76% ของหลักสูตร และมีแกน AI กับวิชาชีพบังคับที่ทุกแขนงต้องผ่านเหมือนกัน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10241-E12D-4907-ABFF-6A8D6961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DB07C-1BBE-430E-B384-004634EB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5D028-F9BE-48A7-8990-6EEA1418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5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3A6F2-8922-48F9-A9A5-89BDAFF5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100EC-BD35-46ED-B612-EF09E9BD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ศึกษาทั่วไป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62EA8-9490-4C87-BCE2-064BADA0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95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7FB00-AD26-43E6-BAA8-0AB7BB85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วิชาเฉพาะ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028A6-D18A-4712-AB03-DF0BEE64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031F8-34B3-4756-8F24-E5065DFF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เลือกเสรี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84C51-A261-4C70-9B60-8A981012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125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CB8CD-8350-4220-8FDE-B32E1238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รวม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6BB61-BF53-4DEB-9219-4F39BBA5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8FF2C-DB3B-4D1D-B40D-6DBC95AE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พื้นฐานวิศวกรรม 24 นก.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7CA0A-8740-4E08-809A-D50B6BC1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B4120-9DE8-4C45-8819-87071864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แกน AI 22 นก. + วิชาชีพบังคับ 22 นก.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69011E-5EB2-4280-913E-3DD72BE0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EBBA9-9F09-4635-8627-47CECBEE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วิชาชีพเลือก 15 นก. จากคลัง 57 วิชา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5af2b18bf4f61"/>
          <a:srcRect xmlns:a="http://schemas.openxmlformats.org/drawingml/2006/main" l="0" t="16217" r="0" b="16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6240B2-4155-45BA-854C-62FC86D1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8406B-AC8B-4296-AABD-45D7C95A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76875"/>
            <a:ext cx="124358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A9511F-6E1C-4FB5-9DFE-D7BEF09C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284" y="5476875"/>
            <a:ext cx="49225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0EC771-F9A2-4DC9-905F-8D672A35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804" y="5476875"/>
            <a:ext cx="31089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4074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6ED1E2-562A-465E-A692-505A6BE6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0D40A-8D54-4EAA-9D69-E48272F2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632C6-7C36-4D50-ABEF-E6B58EB0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รหัสรายวิชาทำหน้าที่เป็นภาษาของระบบ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67C9F-845A-4F6E-88C3-0BBDB1A2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คำนำหน้าและช่วงเลขบอกกลุ่ม ระดับ และแขนง ทำให้คนและสคริปต์อ่านความหมายชุดเดียวกัน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A49D5-DFFE-4FA8-B149-2FEFF9C3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4B57D-A4E2-40F8-9622-8F89459D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AED46-EBB7-43DC-9B2D-B58B19D6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6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37E74-77F2-43B0-9EFF-3798D6FC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97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149CC-8563-451C-85F0-E04860B5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รายวิชา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61405-2E89-44E7-8F9B-005F06E1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70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26A4C-0A20-43FB-A284-A029982B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ก่อน–หลัง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75525-DEA0-40FF-99F0-ADBAB5CE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293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2E988-6F33-407C-AB1C-5A396A1A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วิชา ↔ PLO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72739-0FAE-4B01-A84D-3747DB4F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2,292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39D96-1445-4E29-A61B-4D4F6983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วิชา ↔ KSA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08243-268B-48C4-B744-A1DA452E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A1038-9BB8-49AC-8EB9-A3EC7510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EN-001 พื้นฐานวิศวกรรม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C94971-B32E-4703-A8F1-2FD219E8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4FC99-C67B-40CA-8FBC-E04D9435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EN-131 แกน AI · EN-132 วิชาชีพบังคับ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7F570C-DA0D-4DCE-A64E-806176CD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37283-A4E8-41DF-AF23-3A464CF3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EN-135 วิชาชีพเลือกและประสบการณ์ภาคสนาม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f999e011241dd"/>
          <a:srcRect xmlns:a="http://schemas.openxmlformats.org/drawingml/2006/main" l="0" t="16471" r="0" b="16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4FA024-097F-42AC-8406-E29C599A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67743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E72042-2871-4CB4-98D4-EC46CAA1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FA23E-F5D0-4F89-84FB-77EB9B6D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E5577-A822-477B-AECC-D88368E9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กราฟวิชาก่อน–หลังถูกตรวจด้วยเครื่องทุกครั้ง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D97E3-DEDA-4805-AFFB-9D61602A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ความสัมพันธ์ hard, weak และ corequisite ถูกตรวจเทียบภาคเรียน จึงไม่ต้องไล่เช็กด้วยสายตาหลังปรับแผน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076B3-4CCE-4EDD-94FC-3B4CA804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071B1-6209-4F32-9D6A-69820985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C9F1E-930F-430D-BCD2-A82EA817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7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8E1A6-A047-4322-9886-E5E9B06D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204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hard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6D956-642D-4D8E-B9AE-8D5F9D3B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204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ต้องผ่านก่อน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F64B7-34F6-491E-9638-7BF1297C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600200"/>
            <a:ext cx="204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weak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7E6CE-1F62-462D-8710-54EFE1C3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2076450"/>
            <a:ext cx="204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แนะนำก่อน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FA494-1ED8-476A-A9CB-9153D249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1600200"/>
            <a:ext cx="204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coreq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FF4FB-FF8C-4AE7-A078-8A9501DB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2076450"/>
            <a:ext cx="204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เรียนคู่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CFF0D-6094-412B-824D-824251F2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BC556-603E-46F2-BD45-4CE9D161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Dagre จัดลำดับโหนดและลดเส้นไขว้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DEE4D-1994-4F2F-8CCF-34E35475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F58F1-9436-438D-8479-9D2A808D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แสดงได้ตาม dependency กลุ่มวิชา หรือ PLO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26F96-610B-46D0-AA41-A679E69D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E9419C-BD39-4FAF-905D-CEC73AC5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เปลี่ยนภาคเรียนแล้วสร้างฐานข้อมูลเพื่อตรวจใหม่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ae3713b3c4150"/>
          <a:srcRect xmlns:a="http://schemas.openxmlformats.org/drawingml/2006/main" l="0" t="16471" r="0" b="16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40F52-2CBA-4D6D-8755-3870E1B3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15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487B9-3303-489C-BC51-6237F642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7292A-A5B4-4FF4-B4B9-055FF047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0501C-78A8-4AF5-B7E1-D52D3D58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สองแผนเรียนต่างกันเฉพาะจุดเชื่อมสู่งานจริง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76514-FD6F-4B42-BFE5-4E16C2A4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ปี 1–3 เรียนร่วมกันทั้งหมด ก่อนแยกในภาค 7 และกลับมารวมที่สหกิจศึกษาในภาค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E816D-32D0-46A3-9982-E48D1A36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A713B-C3DB-46B5-BDA6-0AAD90BD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BE281-DD93-4584-B385-3804E02A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8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41C3D-80B6-4E15-B6C8-1E84CA3F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204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8BFB3-1600-4868-96CD-6123ED10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204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โครงงาน + วิชาเลือก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0E320-63A6-421E-9B6F-8B1BDC60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600200"/>
            <a:ext cx="204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06C02-0862-4B08-ADAC-70A05152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2076450"/>
            <a:ext cx="204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Work-integrated learning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459E4-6EED-4B27-9963-E9A26172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1600200"/>
            <a:ext cx="204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78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53ACE-5261-4DE2-8C3B-7C71368C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2076450"/>
            <a:ext cx="204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วิชาที่ระบุภาคแล้ว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27FD0-4F0D-469D-AD34-B375FBD7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2D1D2-3411-4534-A90F-0F916564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เลือกแผนก่อนขึ้นภาค 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3CEBD-3A1F-48C0-9590-E442880E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2BAE0-4F44-4221-A7A0-2B812FD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เตรียมสหกิจก่อนภาคสุดท้าย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0152B-DF24-490C-A5F5-7C5B02B9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B9636-7D00-4A78-A430-26C6143B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สหกิจศึกษาไม่น้อยกว่า 16 สัปดาห์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5d282ad2f4e6e"/>
          <a:srcRect xmlns:a="http://schemas.openxmlformats.org/drawingml/2006/main" l="0" t="16471" r="0" b="16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E044E-6688-4C60-A123-81044198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9927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35765F-D648-4DB1-AFA4-9153FCEE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393A5-A17A-4393-992B-6F55862D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85C3-0AA6-4AE8-9C5D-041EB854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BFF"/>
                </a:solidFill>
              </a:defRPr>
            </a:pPr>
            <a:r>
              <a:rPr sz="3000" b="1">
                <a:solidFill>
                  <a:srgbClr val="F7FBFF"/>
                </a:solidFill>
              </a:rPr>
              <a:t>OBE ทำให้คะแนนหนึ่งข้อย้อนถึงเสียงผู้ประกอบการได้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4D816-64A8-4268-AB87-0B3BD3FB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สายธาร 8 ขั้นเชื่อมความต้องการสู่ผลลัพธ์รายวิชาและหลักฐานประเมิน โดยทุกช่วงมีความสัมพันธ์จริงในฐานข้อมูล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BB904-ECE2-41FE-BB0E-86570CDB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F108B-02CB-4C57-91DA-10739D23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1ED88-ACCB-4119-ADFF-4D773428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9 / 20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3ad3fc4fa40ba"/>
          <a:srcRect xmlns:a="http://schemas.openxmlformats.org/drawingml/2006/main" l="0" t="3269" r="0" b="3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6875" y="1666875"/>
            <a:ext cx="2143125" cy="4191000"/>
          </a:xfrm>
          <a:prstGeom xmlns:a="http://schemas.openxmlformats.org/drawingml/2006/main" prst="roundRect">
            <a:avLst>
              <a:gd name="adj" fmla="val 711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C8FD3-D5F4-4F10-8A4B-A36A99BC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38325"/>
            <a:ext cx="57150" cy="384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19848-5D3E-4CC3-BB79-96BB6F35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21431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1CA25-F6E1-49C6-91DD-741FA32E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804988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85ED0-0EA6-466C-BE2A-C79E54CD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16525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9A3F1-3032-42C8-BF8E-DB76AC15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431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076DC-5E57-4650-9A42-34950132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1809750"/>
            <a:ext cx="1804988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52D3D-922F-4536-99AA-86C6C86D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1885950"/>
            <a:ext cx="16525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Need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C49A6-96E1-40F0-9FD7-1E17938C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21431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532D8-3EAC-4875-BEAC-A7C9A5B0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09750"/>
            <a:ext cx="1804988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96D64-B1AE-43A9-AE3C-7A2D2F87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85950"/>
            <a:ext cx="16525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GA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DA749-ABDF-4FE1-9810-B4DF618B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713" y="1809750"/>
            <a:ext cx="1804988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3B55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60142-4AF8-4378-9938-564AF09E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913" y="1885950"/>
            <a:ext cx="16525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Skills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F0376-2B01-49D4-B4BF-5AAFFC6F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314325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233553-3EE3-4BA5-BB0F-F321FA72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1804988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2373E-1D30-48E4-A392-298973A7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86075"/>
            <a:ext cx="16525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Skill 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BA8A1-C46C-48FA-AFDA-684FBB4C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4325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EE6B5D-F51A-4360-9573-0A97F038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2809875"/>
            <a:ext cx="1804988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2A9DA1-74C1-447B-AF1C-E9F83FD2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2886075"/>
            <a:ext cx="16525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PLO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5BC86A-72D3-4EA8-BECA-A1868BCE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314325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557D5D-E72C-4BD8-BED9-5C3DBC0B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09875"/>
            <a:ext cx="1804988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EAE6C9-23C0-43E8-9015-F7DF44A0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86075"/>
            <a:ext cx="16525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YLO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64D8B5-6950-4C01-831E-E9A71E27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713" y="2809875"/>
            <a:ext cx="1804988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3B55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BF588E-7442-4E91-85B3-E4A7B7EF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913" y="2886075"/>
            <a:ext cx="16525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CLO + KSA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CAF74B-3350-41F9-8D1A-6AB03823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43375"/>
            <a:ext cx="17764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D852A7-B1C2-4F92-8493-D223991A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1776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กลุ่มผู้มีส่วนได้ส่วนเสีย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74577B-4998-4380-BFE7-E4AD856D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4143375"/>
            <a:ext cx="17764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46333E-F056-4BCE-B6AC-08E6CF66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4619625"/>
            <a:ext cx="1776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ความต้องการ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1C873B-3D0D-470C-86DE-8E037A57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143375"/>
            <a:ext cx="17764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B73464-5F92-4A28-A347-72C71D98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619625"/>
            <a:ext cx="1776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PLO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4B1F0D-8DAC-46D2-90FB-E244ED4D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4143375"/>
            <a:ext cx="17764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288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F6724D-C934-432D-88C0-C7D097E7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4619625"/>
            <a:ext cx="1776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CLO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E817A7-BF6D-4011-AADF-3FCF97F9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8162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B942"/>
                </a:solidFill>
              </a:defRPr>
            </a:pPr>
            <a:r>
              <a:rPr sz="1950" b="1">
                <a:solidFill>
                  <a:srgbClr val="F4B942"/>
                </a:solidFill>
              </a:rPr>
              <a:t>สอบย้อนกลับได้ตั้งแต่คะแนนในห้องเรียนถึงความต้องการของผู้ประกอบการ</a:t>
            </a:r>
          </a:p>
        </p:txBody>
      </p:sp>
    </p:spTree>
    <p:extLst>
      <p:ext uri="{BB962C8B-B14F-4D97-AF65-F5344CB8AC3E}">
        <p14:creationId xmlns:p14="http://schemas.microsoft.com/office/powerpoint/2010/main" val="2125751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D58070-9F69-4D35-BF10-EF6BEB20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3DD5D-407B-43FD-8E4A-D7EAB425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52520-F28F-4FB3-9DCB-7EA8BADB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ความต้องการ 18 ข้อมีผู้ให้ข้อมูลรองรับ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29E44-A437-47F9-9AB9-B089F0E3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ระบบเก็บทั้งข้อความ ที่มา ขนาดกลุ่มตัวอย่าง และความเชื่อมโยงไปยังชุดทักษะ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D0A51-6421-48B8-B378-8F0E04E2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DB81F-3CC2-44CD-B189-A11752A7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7C51F-CE44-4279-B3A7-0E22FDA6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10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380B1-C22F-48AD-9A3D-F0E08F9A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1C62C-3B38-41D0-A43D-2B71F0F6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กลุ่ม 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46359-9637-4E05-9417-24AB5B77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4C90C-3480-4706-ACCA-73917FA6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ED895-C9B5-4198-AD52-8F4E2FE6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62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2D5A4-B533-4F41-913F-A01023DA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SH ↔ Need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C493A-AFDC-445B-BF9D-2E62F39E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43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8C03E-31D5-41D8-9E05-40E3ED48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Need ↔ Skill 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8C8C6-8859-48F4-948F-EFD4F1A3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F63AA-8DD6-4A3F-9AF0-F27DCA9D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รอบแรกใช้สร้าง GA และ PLO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46D1A-DC40-4D7B-9199-9F0CE8E1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96F72-462D-4C28-879D-D0A1C5F8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รอบสองตอบข้อเสนอแนะทีละข้อ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4C1A2-C908-435F-99CC-1FEA2C01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18FB3-3416-473A-BECF-7C30A1FC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ตรวจช่องว่างได้จาก need_skill_set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522277a344fbf"/>
          <a:srcRect xmlns:a="http://schemas.openxmlformats.org/drawingml/2006/main" l="0" t="16217" r="0" b="16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87B528-0BF3-44F4-92B6-C7C284E7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54190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890DC2-2034-4695-8BFE-0191CD69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4E379-8B48-497B-8ECE-7DAFD93C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3C10B-8B62-4379-B194-5FD5546A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PLO 7 ข้อเชื่อมมาตรฐานสากลและการประเมิน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23319-A884-47F4-A7CF-A6BC95E9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Graduate Attributes อธิบายว่าบัณฑิตเป็นคนแบบใด ส่วน PLO ระบุว่าเขาทำอะไรได้อย่างวัดผลได้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C23F6-92CF-4913-AC79-70E45CFB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80F9F-666A-49B1-A3B5-4F8D501F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EF962-02E4-4463-AE39-85DC5932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11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5FBA2-053A-48E6-941A-B5A7E49E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F8151-563F-47FB-9C1A-2EF112FA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GA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80A0D-9E10-4925-934D-74836AA1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5C94A-EF40-494D-AE24-43402EE0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PLO / ABET 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2BB8C-E8D7-456C-BD97-CB591595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BBD38-2ECE-437B-BF05-3DA3C967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GA ↔ PLO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26809-7C76-4EE9-8605-EADB0E47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207A7-13C6-49A7-B6B6-44B9F839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แผนประเมิน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8C554-2667-4EC5-869B-59810750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F1FE7-7E3E-4972-AA2B-6505D9F7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ถ้อยคำ PLO ขึ้นต้นด้วยคำกริยา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4EF8F-EB52-4986-BA30-C9BF8460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C8297-6472-4D8D-B6D0-C9C6CAAB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แยกเจ้าภาพหลัก host และผู้สนับสนุน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ACBB7-A286-408E-ABDF-665A1126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C5B16-09F2-4087-A187-5BBC5174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ทุก PLO ต้องมีหลักฐานระดับ Mastery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3c888a7624c2a"/>
          <a:srcRect xmlns:a="http://schemas.openxmlformats.org/drawingml/2006/main" l="0" t="18621" r="0" b="186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DD602B-0481-4692-AF9F-CDA8F85D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9819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05DEC2-A197-4883-8986-0CC6CC16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DB9EE-7249-465D-AB42-3240CE62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BBF7B-235E-4A5B-A65B-AA8CCE13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I–R–M ทำให้เห็นพัฒนาการตลอดสี่ปี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49072-31A3-47EC-A74B-4573BF9A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PLO ไม่ได้เกิดในวิชาเดียว แต่ถูกแนะนำ ใช้ซ้ำ และประเมินความเชี่ยวชาญผ่าน Year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39827-38A5-4076-AA77-DFAA5662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3B444-4535-48C3-AF5A-AC8925A4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C4454-89AE-4B25-B178-C22945C7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12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37001-D645-4D26-BB22-CAA1E5A1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B6606-B5F7-4A2A-95A2-7C0625AB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Introduce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5CC64-1C22-48E5-90FD-FCAE141C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C3079-FDC4-4699-A198-BFAFE8E8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Reinforce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14869-891C-4667-AD44-2D684C72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8C56B-17D1-42C0-9641-73950180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Master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71715-A27D-49F2-B0FF-A0C4C345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3D650-5F02-47AD-B578-15D212DE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Sub-YLO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C8A08-A60C-45CD-B866-5962C18D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938" y="32385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26161-DDB3-491B-8FA4-83A85255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05125"/>
            <a:ext cx="1519238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6C6A49-3DD4-412B-BF18-49A65546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1325"/>
            <a:ext cx="13668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ปี 1 · 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7266F-C3B1-48E7-9B83-F2278D3D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2385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AB8B2-82C4-40DA-B42B-5EFFF2C3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288" y="2905125"/>
            <a:ext cx="1519238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22CC6F-DAD9-414B-B305-587D270A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488" y="2981325"/>
            <a:ext cx="13668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ปี 2 · I→R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CD71E-78AC-4D11-BCF0-8C0B5300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13" y="32385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F1FED9-54BE-4B15-AA5F-F4C3F362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05125"/>
            <a:ext cx="1519238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C3CFE9-CB05-4BCB-AE8E-B78A3E82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81325"/>
            <a:ext cx="13668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ปี 3 · 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B3E73-74E6-40F7-AD43-857503B9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2905125"/>
            <a:ext cx="1519238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3B55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02EB7B-F3FD-4A48-A347-7942A9DF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663" y="2981325"/>
            <a:ext cx="13668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ปี 4 · 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CF94F5-2183-4D1E-9201-4F6914AF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B461F7-7C57-44CC-9581-6C6C1511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576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YLO1 พื้นฐานและเครื่องมือ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D7D1ED-269B-492E-A4F2-4F8BC6D7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5DB249-3F48-42D8-A125-43DC2CEE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387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YLO2–3 แกน AI และประยุกต์ตามแขนง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45A17D-EB4A-40C4-A13F-D96D5EDA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578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ACE718-5DCC-42DE-B23A-B9750FEE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197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YLO4 โครงงานและงานจริง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ae3c6870c4893"/>
          <a:srcRect xmlns:a="http://schemas.openxmlformats.org/drawingml/2006/main" l="0" t="17842" r="0" b="178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7DC06B-6E1E-41B9-A8AA-C3FB876E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43219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1CC3E-A727-46A2-AC9A-3E09AE98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55261-CC31-4B18-82EE-FA1087F2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38451-DD61-4936-8281-FCE43BFA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CLO คือจุดที่คำสัญญาของหลักสูตรกลายเป็นคะแนน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F4EEF-FB18-472B-AF76-F105C687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Curriculum Mapping ระดับรายวิชาใช้ดูภาพรวม แต่ CLO Mapping คือชั้นที่ตรวจและให้คะแนนได้จริง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EC935-B017-403A-9537-8522AB3E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041FB-2B05-4104-A1E1-43E35F72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C5ED4-C89C-4C3E-9A4C-ECDB99CA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13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8B2C8-BC10-4CF5-870F-38DDCCC4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288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01A9D-F607-4B8A-ADAC-3DD95FEE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CLO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2427A-936A-4824-9750-CBCEE5BB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426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50744-4C09-4F0B-90F8-C5E33383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CLO ↔ PLO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01C05-04E5-415C-8F0B-E7598EDF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319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65D4A-0F22-49A7-8F4F-F1733864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CLO ↔ Sub-YLO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06994-9373-469C-93B0-4650CE0F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963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668AD-458A-45E7-85E0-D74F1164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CLO ↔ KSA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540F3-8558-4C8F-8B7C-525CA7EF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E8755-69F8-473A-AC0E-67F6FD00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4.5 รายวิชา × PLO พร้อม I–R–M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6E00B-B943-4F26-B841-529B146A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FC925-304F-4965-A13D-8F193045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4.6 CLO × PLO รายข้อ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9ED4B5-6D76-4C69-9222-05D97003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19DB93-C016-4F2B-B5EA-A75B1122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4.7 รายวิชา × AISK01–09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bd61f94d941b2"/>
          <a:srcRect xmlns:a="http://schemas.openxmlformats.org/drawingml/2006/main" l="0" t="17647" r="0" b="1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A282AD-9560-41B8-BC85-3F9CA7D9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76216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F0EFAD-1093-4D92-A584-D652A374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19784-6B02-4792-B40B-F401DAB7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3D872-01F7-4C93-9BA7-F0CC9C2F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Skill Set แปลภาษาหลักสูตรให้เป็นภาษาการทำงาน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ACFE7-07E0-4DAF-82EF-6DE07E98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AISK01–09 รวมทักษะ ระดับความลึก เครื่องมือ PLO และ KSA เป็นหน่วยที่พร้อมออก Skill Transcript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5672E-4C8C-413D-884B-DC760340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22EEC-F1FF-4A61-BCA6-185453C5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DAB54-C607-447C-A787-FD8AFAE8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14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0C219-5EB1-4C52-9B5A-5DE0BABB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F15A7-71DA-4726-A389-5E739E36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Hard Skills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22B0B-A5C1-4405-A721-840F014E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4E818-AE1F-4E80-A87E-067B6EFB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Soft Skills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146E9-7115-4EBE-9B59-389A0C12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A53A2-4547-409F-9CC3-07FBD963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ฐานวิศวกรรม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A6ACD-0CBB-4A66-BBA6-AED9669C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2DAEB-A66C-45AA-88C9-EB96C986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Skill 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1BB31-E158-41AD-9E22-B38BAB77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A3A3D-87EF-42AD-A571-A3678A1F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เครื่องมือจริง: Python · PyTorch · TensorFlow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C4D12-9CE1-439E-9A13-70497B7F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B9D88-16F3-4FB6-8A22-0EBFA993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ระดับ L1–L4 แยกการรู้จักจนถึงทำงานซับซ้อน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068E95-2F03-4F3D-B841-1985ED20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10CBA-03E3-4F70-9C7B-531F774E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หนึ่งทักษะอยู่ได้หลายชุดตามบริบทงาน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3bccd5edc4574"/>
          <a:srcRect xmlns:a="http://schemas.openxmlformats.org/drawingml/2006/main" l="0" t="17452" r="0" b="174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D70B2-F671-4328-A26A-0E59646D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52465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35FF98-B0A4-4F79-8B6C-87F4A04B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D2802-E563-4DB3-9A0E-FE95CD47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CEB88-7C1D-4D9B-B158-44C12387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KSA 54 ข้อคือหน่วยเล็กที่สุดที่ประเมินได้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65553-6A26-4D08-BD44-E45AF146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Knowledge, Skills และ Attitudes ถูกผูกกับพฤติกรรม หลักฐาน รายวิชาแกน และวิธีประเมินโดยตรง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569AB-7439-4BBF-A57A-DCF3C3F7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33DEC-AAB9-4543-B929-32C36CF8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33923-1E24-4F9B-B9FD-BCBF1747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15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B025E-105D-4C29-851C-D840F468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F90E4-C0BD-4215-A9E8-C1CEDCDD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Knowledge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3E78C-4A96-46FE-ABB6-6B8B5C0F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95B88-E9E1-46B4-8F07-E251FB3E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Skills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3DF72-20F5-4141-85A9-2776B6A8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7AD36-D4A2-48DF-A2C4-608B043B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Attitudes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693EE-6B1F-4507-9294-6C1964F5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98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B2D30-3003-4239-BA8A-6670E324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พฤติกรรมสังเกตได้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91205-4D2C-4D98-89A8-96996E5D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A6DA19-6CC5-409B-8AA8-316F4878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K — รู้อะไร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4E6A0-92B3-4686-BC79-D4D24F00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12764-EBFC-4121-B778-F8C401F9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S — ทำอะไรได้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70BC00-52DE-4E12-9EEE-FFA744E6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80A04-1412-4EFA-A597-312E11A8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A — ทำงานด้วยท่าทีแบบใด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a8ffafc9a4f49"/>
          <a:srcRect xmlns:a="http://schemas.openxmlformats.org/drawingml/2006/main" l="0" t="18621" r="0" b="186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5EAA93-CE00-46CD-9DA6-ACE04576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9375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F1B751-1213-4068-A261-F98250AC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5E2A7-AFCE-44E5-B353-D760685E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3348B-7652-48AB-B747-44CEE212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ตลาดแรงงานถูกสร้างเป็นหลักฐานที่ทำซ้ำได้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53828-889A-46F0-ACE2-0D4AB162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ประกาศงานถูกดึง เก็บฉบับเต็ม สกัดทักษะ จำแนกอาชีพ และแยก runtime data สำหรับหน้าเว็บ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145D9-3558-4CD1-9906-0F9019F3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960A0-98DB-4B26-8C9E-40128E65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46D47-EB17-4AA3-88A1-84C4611A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16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4CC6B-EBDB-46A7-8029-B28541FC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7,424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96E52-16F5-4820-B047-C817078E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ประกาศงาน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DAFB6-3B85-4054-8ACA-9B6D9270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5,377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77600-C6B7-4407-A95D-F134B96E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ผลจำแนก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23E90-2623-40F1-8C7F-F3DA7ED5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32,214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09FD7-4D09-4A83-AE85-3691CF77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ป้ายทักษะ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79CE8-7C12-4223-A005-B678F37D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193DD-A73A-4102-B603-E3102A2A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กลุ่มที่จำแนก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3BEDB-41C9-49FE-AA15-E58BB37E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420" y="32099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366FE-C197-4A67-BE39-F9567647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118872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B5054-58DE-43CA-AA62-EEBC0FD8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1036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scrape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D8318D-9E0A-431E-9FF3-50619522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490" y="32099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62DC10-2387-4763-95D9-EA01D60F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770" y="2876550"/>
            <a:ext cx="118872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94B24-36C0-40AB-A4DF-8F6CD03A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970" y="2952750"/>
            <a:ext cx="1036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extract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A759FB-3C18-4DBF-9649-628D0B49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32099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73534-E853-4171-B158-5B85F7D9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840" y="2876550"/>
            <a:ext cx="118872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D7DA99-4404-4A96-832A-BD261340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952750"/>
            <a:ext cx="1036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classify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9F7B61-A23C-4CE0-BD0A-57862E9E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2099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DD7D3E-B105-4069-9DDF-F036F3E5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910" y="2876550"/>
            <a:ext cx="118872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0D4E61-3A4F-49AE-A93C-F7EED5A6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2952750"/>
            <a:ext cx="1036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normalize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0973E4-CE5F-4A54-B9F7-713B4702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980" y="2876550"/>
            <a:ext cx="118872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3B55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9FCF95-2691-4253-9F6B-D6907593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180" y="2952750"/>
            <a:ext cx="1036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runtime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6A13B8-C011-44E5-9401-A68B0E32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942"/>
                </a:solidFill>
              </a:defRPr>
            </a:pPr>
            <a:r>
              <a:rPr sz="1800" b="1">
                <a:solidFill>
                  <a:srgbClr val="F4B942"/>
                </a:solidFill>
              </a:rPr>
              <a:t>เครื่องมือ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1ED4DC-D00E-42CC-8897-AB1A2380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633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BFF"/>
                </a:solidFill>
              </a:defRPr>
            </a:pPr>
            <a:r>
              <a:rPr sz="1875" b="1">
                <a:solidFill>
                  <a:srgbClr val="F7FBFF"/>
                </a:solidFill>
              </a:rPr>
              <a:t>JobsDB · Node.js · Gemini structured output · JSON shards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8d9d42cb04aa6"/>
          <a:srcRect xmlns:a="http://schemas.openxmlformats.org/drawingml/2006/main" l="0" t="16471" r="0" b="16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91A9B7-8695-4F4D-A6F9-0D004627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82774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F2373-1F50-452D-B2F9-B4DF7C5A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56314-DD0D-447A-B0C9-D05A09FA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CB296-5C14-40F2-BA1C-1B9601C6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อาชีพทุกสายมีเส้นทางรายวิชาที่ตรวจกลับได้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0518D-14A9-4E84-9C2C-9607B1EC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C01–C26 ไม่ใช่รายชื่อปลายเล่ม แต่เป็นเครือข่ายจากวิชาแกน วิชาเลือก และประสบการณ์จริง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FA423-5063-4A83-8A77-47205608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344C0-D0A4-411D-A06E-4E97FC26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47594-194B-4570-867B-DDC5E83A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17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8A318-9DD7-4B51-A142-2E0A013E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03ED6-591F-4C5E-9515-D27AB7AE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อาชีพเป้าหมาย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A31F8-E948-4937-9A87-31EF33AD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68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EA926-2494-4E35-99DF-C00FF0D0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กลุ่มย่อย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E15BF-4072-473D-B234-72E1FD21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148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74E3F-DA17-454F-842F-228DD08D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Career ↔ Course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EC773-CB92-465E-8FA0-253AA8E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D7CEA-AE43-4B80-827E-5C8F572E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มีข้อมูลตลาด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FB111-C185-400A-8218-EB20B2F0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9BBC4-CC71-4EF1-9DF0-A28DB5B9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Mainstream · Sector Critical · Future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18788-D36E-4450-BAA8-4496433E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39091-6214-422C-812E-BA490F91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วิชาบังคับเป็นแกน วิชาเลือกเป็นตัวเสริม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05887-34E9-4DB9-B074-9E53F79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3B7BF-075A-4535-8573-02CEB45E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ตรวจได้ว่าเส้นทางใดพึ่งวิชาเลือกมากเกินไป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563efca804966"/>
          <a:srcRect xmlns:a="http://schemas.openxmlformats.org/drawingml/2006/main" l="0" t="16471" r="0" b="16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D676F-682E-49C8-818B-ACCABC22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66808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371980-52CB-4807-8482-2FBF9945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2C443-0A07-4D88-B9EF-6ED2AADA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F0FE0-EA77-4802-A80D-11EB74DA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ฐานข้อมูลทำหน้าที่เป็นเครื่องตรวจคุณภาพ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9011C-3E12-4108-A0D9-12B1BC17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47 ตารางรวมข้อความและความสัมพันธ์ แล้วใช้ 4 views ตรวจช่องว่างที่เอกสารยาวหลายร้อยหน้ามองไม่เห็น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2DA66-7008-42DD-8C4B-A620E371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0BB84-0038-4180-9F51-A9825440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763A1-E3DF-4B14-A630-05D2097E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18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5C605-8046-416A-B4C4-B2C1122C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DABAE-EBB4-434C-B534-CED4149B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ตาราง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28286-A2F0-4C35-A4D9-4B01DC5F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D9A38-7DCD-4461-88D0-9D6F34AF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ตรวจความสอดคล้อง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9CC14-B5A3-42DF-8FCB-BA10C988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27900-D21B-479A-81F4-B741DC76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Excel exports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CEECB-0768-44E9-B4EF-9D79E29A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9C13B-FCDF-4F8F-9712-4982BF5B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ช่องว่างปัจจุบัน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A8F31-FB9F-4AAB-A3F8-4E7727AB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2D283-77E8-4040-A370-D4D3E494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vw_ksa_orphan — KSA ต้องมีวิชาบังคับรองรับ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22C09-4069-45C0-A568-6E62493A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4038B-99AE-4B5F-832F-1F9A16E4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vw_plo_coverage — ทุก PLO ต้องถึง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082F19-E60D-4751-B043-A73C371F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66A43-3FB0-41A5-BC26-DB5D27D3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vw_skill_ksa_gap และ attitude coverage ต้องว่าง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be01e83da4fad"/>
          <a:srcRect xmlns:a="http://schemas.openxmlformats.org/drawingml/2006/main" l="0" t="16471" r="0" b="16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EED2D3-5CD1-480B-9AEE-9AE14422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207D1-EAEB-4009-9D64-6481E4B4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ED5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B4DE3-D5F2-4D81-9D09-5FB65E93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A33"/>
                </a:solidFill>
              </a:defRPr>
            </a:pPr>
            <a:r>
              <a:rPr sz="2100" b="1">
                <a:solidFill>
                  <a:srgbClr val="071A33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E91685-AC5A-45DF-8102-9154CF60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ED5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10AAA4-DF35-49D4-B955-2C7180BB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9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A33"/>
                </a:solidFill>
              </a:defRPr>
            </a:pPr>
            <a:r>
              <a:rPr sz="2100" b="1">
                <a:solidFill>
                  <a:srgbClr val="071A33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033001-4FA3-4833-8642-F2936D71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80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ED5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5AD688-818C-4C87-B085-9665B1AB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A33"/>
                </a:solidFill>
              </a:defRPr>
            </a:pPr>
            <a:r>
              <a:rPr sz="2100" b="1">
                <a:solidFill>
                  <a:srgbClr val="071A33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B66457-1B56-4026-A93F-DE3CDECD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672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ED5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DE6166-871C-4777-A3B4-FBD272E1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48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A33"/>
                </a:solidFill>
              </a:defRPr>
            </a:pPr>
            <a:r>
              <a:rPr sz="2100" b="1">
                <a:solidFill>
                  <a:srgbClr val="071A33"/>
                </a:solidFill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11130664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836A60-23E8-4CFE-B2DE-8B7F35BC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E4A21-5FFB-4E90-8065-71DE49D0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B1F5C-A1A2-4534-BF68-4D71CFAD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ลำดับ build คือส่วนหนึ่งของความถูกต้อง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C9F7B-132C-466F-A9E9-A0BBC14A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กระบวนการมี 4 เฟส และมี dependency สำคัญ: build:mapping ต้องมาก่อน build:ksa เสมอ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EEA45-2285-45D5-ADC6-DFF668D1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D6DFE-62A5-4EAB-9FB2-A15B994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EA23B-AC6E-433C-B020-37C4F0BF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19 / 20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1fb1cbffa4154"/>
          <a:srcRect xmlns:a="http://schemas.openxmlformats.org/drawingml/2006/main" l="0" t="6802" r="0" b="68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571625"/>
            <a:ext cx="2476500" cy="44767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8BCD2-A1A9-4D00-BA93-9080C112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43075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1C741-E91C-4EB6-805F-868B0C26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9526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1BE3B-4E2D-4B52-813A-1462EA07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19250"/>
            <a:ext cx="197167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EA71E-6401-499C-A5A7-D2411E76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95450"/>
            <a:ext cx="1819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เฟส 0</a:t>
            </a:r>
          </a:p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JobsDB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0A046-7676-4347-923E-0F1481AA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526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C441E-AE64-4423-AA10-3B785F4F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619250"/>
            <a:ext cx="197167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18E7D-B4CB-4CF8-8FDE-DE587E18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695450"/>
            <a:ext cx="1819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เฟส 1</a:t>
            </a:r>
          </a:p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Vault 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D10B3-925C-4E78-BAB8-56B219E6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9526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3AEFD-40D9-4638-A347-07A0DE72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19250"/>
            <a:ext cx="197167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D3D611-47E6-41E7-AFC1-349D417D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95450"/>
            <a:ext cx="1819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เฟส 2</a:t>
            </a:r>
          </a:p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Node scripts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5E409-6411-46C9-9332-746F5067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619250"/>
            <a:ext cx="197167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3B55"/>
          </a:solidFill>
          <a:ln xmlns:a="http://schemas.openxmlformats.org/drawingml/2006/main" w="9525">
            <a:solidFill>
              <a:srgbClr val="2450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722558-7615-4D19-865F-62DB412D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695450"/>
            <a:ext cx="1819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เฟส 3</a:t>
            </a:r>
          </a:p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DB · Web · Excel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87C596-FF2C-41BA-8596-5B3E373C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942"/>
                </a:solidFill>
              </a:defRPr>
            </a:pPr>
            <a:r>
              <a:rPr sz="1800" b="1">
                <a:solidFill>
                  <a:srgbClr val="F4B942"/>
                </a:solidFill>
              </a:rPr>
              <a:t>คำสั่งหลัก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7BE40F-8C6D-4A27-A7F4-A2AF9BA7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81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D26FBA-AE95-4BFC-9B08-DF1F79FD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05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BFF"/>
                </a:solidFill>
              </a:defRPr>
            </a:pPr>
            <a:r>
              <a:rPr sz="1500" b="0">
                <a:solidFill>
                  <a:srgbClr val="F7FBFF"/>
                </a:solidFill>
              </a:rPr>
              <a:t>sync:curriculum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1F8ED-4E5B-4B93-BA62-EEFEA649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30BB9A-1A2B-4F76-B200-CF410E85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05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BFF"/>
                </a:solidFill>
              </a:defRPr>
            </a:pPr>
            <a:r>
              <a:rPr sz="1500" b="1">
                <a:solidFill>
                  <a:srgbClr val="F7FBFF"/>
                </a:solidFill>
              </a:rPr>
              <a:t>build:mapping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1709F4-6A30-4394-BB62-E993BD61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05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ต้องมาก่อน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3DE3A5-98FC-4E53-8C55-D51599FF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814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FB40EB-68A8-48A5-8812-B1689F24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05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BFF"/>
                </a:solidFill>
              </a:defRPr>
            </a:pPr>
            <a:r>
              <a:rPr sz="1500" b="0">
                <a:solidFill>
                  <a:srgbClr val="F7FBFF"/>
                </a:solidFill>
              </a:rPr>
              <a:t>build:plan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1E50C4-6BA9-4B6A-8380-C274ABE7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815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82319F-707A-440A-82E4-C9D35C19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05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BFF"/>
                </a:solidFill>
              </a:defRPr>
            </a:pPr>
            <a:r>
              <a:rPr sz="1500" b="1">
                <a:solidFill>
                  <a:srgbClr val="F7FBFF"/>
                </a:solidFill>
              </a:rPr>
              <a:t>build:ksa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D1176B-0F25-48A3-A4AA-9003FD01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05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6B"/>
                </a:solidFill>
              </a:defRPr>
            </a:pPr>
            <a:r>
              <a:rPr sz="1350" b="1">
                <a:solidFill>
                  <a:srgbClr val="FF7A6B"/>
                </a:solidFill>
              </a:rPr>
              <a:t>อ่านผลจาก mapping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57DB80-08E9-451B-A2DC-97C01CCA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81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E296A6-8181-4B37-81AD-A55A61BC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05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BFF"/>
                </a:solidFill>
              </a:defRPr>
            </a:pPr>
            <a:r>
              <a:rPr sz="1500" b="0">
                <a:solidFill>
                  <a:srgbClr val="F7FBFF"/>
                </a:solidFill>
              </a:rPr>
              <a:t>build:db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B86503-0248-4AA4-B654-82556E3E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816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517691-0DE4-4288-A845-489BE26E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05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BFF"/>
                </a:solidFill>
              </a:defRPr>
            </a:pPr>
            <a:r>
              <a:rPr sz="1500" b="0">
                <a:solidFill>
                  <a:srgbClr val="F7FBFF"/>
                </a:solidFill>
              </a:rPr>
              <a:t>db:load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4D90E9-3667-4854-839B-905882CD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816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E2F63B-8646-4550-9519-3AE95F7C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505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BFF"/>
                </a:solidFill>
              </a:defRPr>
            </a:pPr>
            <a:r>
              <a:rPr sz="1500" b="0">
                <a:solidFill>
                  <a:srgbClr val="F7FBFF"/>
                </a:solidFill>
              </a:rPr>
              <a:t>db:export · db:docs · db:lineage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29498C-8181-42AB-B93D-8738C17D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24765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0B233E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6D286E-C620-4538-8ABC-E7A926E1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956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B942"/>
                </a:solidFill>
              </a:defRPr>
            </a:pPr>
            <a:r>
              <a:rPr sz="1800" b="1">
                <a:solidFill>
                  <a:srgbClr val="F4B942"/>
                </a:solidFill>
              </a:rPr>
              <a:t>กฎสำคัญที่สุด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E95699-C713-4771-827A-2E708443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2038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7FBFF"/>
                </a:solidFill>
              </a:defRPr>
            </a:pPr>
            <a:r>
              <a:rPr sz="2400" b="1">
                <a:solidFill>
                  <a:srgbClr val="F7FBFF"/>
                </a:solidFill>
              </a:rPr>
              <a:t>mapping</a:t>
            </a:r>
          </a:p>
          <a:p xmlns:a="http://schemas.openxmlformats.org/drawingml/2006/main">
            <a:pPr algn="ctr">
              <a:defRPr sz="2400" b="1">
                <a:solidFill>
                  <a:srgbClr val="F7FBFF"/>
                </a:solidFill>
              </a:defRPr>
            </a:pPr>
            <a:r>
              <a:rPr sz="2400" b="1">
                <a:solidFill>
                  <a:srgbClr val="F7FBFF"/>
                </a:solidFill>
              </a:rPr>
              <a:t>มาก่อน</a:t>
            </a:r>
          </a:p>
          <a:p xmlns:a="http://schemas.openxmlformats.org/drawingml/2006/main">
            <a:pPr algn="ctr">
              <a:defRPr sz="2400" b="1">
                <a:solidFill>
                  <a:srgbClr val="F7FBFF"/>
                </a:solidFill>
              </a:defRPr>
            </a:pPr>
            <a:r>
              <a:rPr sz="2400" b="1">
                <a:solidFill>
                  <a:srgbClr val="F7FBFF"/>
                </a:solidFill>
              </a:rPr>
              <a:t>KSA เสมอ</a:t>
            </a:r>
          </a:p>
        </p:txBody>
      </p:sp>
    </p:spTree>
    <p:extLst>
      <p:ext uri="{BB962C8B-B14F-4D97-AF65-F5344CB8AC3E}">
        <p14:creationId xmlns:p14="http://schemas.microsoft.com/office/powerpoint/2010/main" val="9229684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EF8AA9-4157-47C3-AF1B-1B068091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39442-1D2D-4BE1-A485-4A96D5A8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942"/>
                </a:solidFill>
              </a:defRPr>
            </a:pPr>
            <a:r>
              <a:rPr sz="1350" b="1">
                <a:solidFill>
                  <a:srgbClr val="F4B942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CD524-E83A-47D1-9705-F010AEF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AI ถูกจำกัดให้อยู่ในจุดที่ตรวจสอบได้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1536C-AAA3-41E4-8DD3-B05A32C7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3D7"/>
                </a:solidFill>
              </a:defRPr>
            </a:pPr>
            <a:r>
              <a:rPr sz="1650" b="0">
                <a:solidFill>
                  <a:srgbClr val="AFC3D7"/>
                </a:solidFill>
              </a:rPr>
              <a:t>โมเดลภาษาถูกใช้เพียงสองงาน พร้อม JSON Schema, temperature ต่ำ, retry และเหตุผลรายประกาศ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CB504-953B-467B-A20A-D909847C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423D1-8B73-4341-8BA9-D0554BA8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AI ENGINEERING CURRICULUM SYSTEM · KSU 2570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EB618-54C5-496D-95F3-6913BB89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8CA8"/>
                </a:solidFill>
              </a:defRPr>
            </a:pPr>
            <a:r>
              <a:rPr sz="900" b="1">
                <a:solidFill>
                  <a:srgbClr val="6E8CA8"/>
                </a:solidFill>
              </a:rPr>
              <a:t>20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1836A-22D8-4DF2-BB08-95936545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2DB96-1CD2-4601-87E3-12B76F98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จุดที่ใช้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555F4-F8C1-4061-94C5-DA5ED646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0.1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D7D58-60D2-4FE3-A32F-F012DFA7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extract temperature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21564-7653-47DC-B60B-16B618C7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7F4"/>
                </a:solidFill>
              </a:defRPr>
            </a:pPr>
            <a:r>
              <a:rPr sz="2400" b="1">
                <a:solidFill>
                  <a:srgbClr val="25C7F4"/>
                </a:solidFill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2FF21-171B-4F28-9500-9D666F79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classify temperature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F76B8-598C-4CC3-AB2F-135EC791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1600200"/>
            <a:ext cx="14906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B942"/>
                </a:solidFill>
              </a:defRPr>
            </a:pPr>
            <a:r>
              <a:rPr sz="2400" b="1">
                <a:solidFill>
                  <a:srgbClr val="F4B942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36D75-4374-4F8F-A4AC-2C0A35C0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76450"/>
            <a:ext cx="1490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D7"/>
                </a:solidFill>
              </a:defRPr>
            </a:pPr>
            <a:r>
              <a:rPr sz="1200" b="0">
                <a:solidFill>
                  <a:srgbClr val="AFC3D7"/>
                </a:solidFill>
              </a:rPr>
              <a:t>retry สูงสุด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528ED-2BDF-40EC-832B-562BD61A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1966E-2B12-46B3-AF70-4F4C0CDC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โครงสร้างหลักสูตรและผลลัพธ์ทั้งหมดคนเขียน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B063A-5FFC-4BA3-8A7A-ADC08180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C0D39-0D1D-4B12-AE07-85FAF488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ผลโมเดลต้องผ่าน schema ที่กำหนด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8CFB1-7FD0-4471-AB17-C8677B5C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BBAF5-4FBB-4E3F-8EB7-1BDF2783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767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BFF"/>
                </a:solidFill>
              </a:defRPr>
            </a:pPr>
            <a:r>
              <a:rPr sz="1800" b="0">
                <a:solidFill>
                  <a:srgbClr val="F7FBFF"/>
                </a:solidFill>
              </a:rPr>
              <a:t>รันใหม่ได้ สุ่มตรวจได้ และย้อนเหตุผลได้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963bcf3374b97"/>
          <a:srcRect xmlns:a="http://schemas.openxmlformats.org/drawingml/2006/main" l="0" t="16217" r="0" b="16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5608C3-CBCF-4B57-9A5A-0236AA12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57150" cy="413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B4100-830A-45C2-8ADB-4A62DB10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197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B942"/>
                </a:solidFill>
              </a:defRPr>
            </a:pPr>
            <a:r>
              <a:rPr sz="1500" b="1">
                <a:solidFill>
                  <a:srgbClr val="F4B942"/>
                </a:solidFill>
              </a:rPr>
              <a:t>Human-authored curriculum  |  AI-assisted labor evidence</a:t>
            </a:r>
          </a:p>
        </p:txBody>
      </p:sp>
    </p:spTree>
    <p:extLst>
      <p:ext uri="{BB962C8B-B14F-4D97-AF65-F5344CB8AC3E}">
        <p14:creationId xmlns:p14="http://schemas.microsoft.com/office/powerpoint/2010/main" val="1534009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2026-08-13T17:55:14.3460000Z</dcterms:created>
  <dcterms:modified xsi:type="dcterms:W3CDTF">2026-08-13T17:55:14.3460000Z</dcterms:modified>
</coreProperties>
</file>